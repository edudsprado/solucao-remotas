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69680" y="548640"/>
            <a:ext cx="2286000" cy="914400"/>
          </a:xfrm>
          <a:prstGeom prst="roundRect">
            <a:avLst/>
          </a:prstGeom>
          <a:solidFill>
            <a:srgbClr val="37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92640" y="1600200"/>
            <a:ext cx="1463040" cy="548640"/>
          </a:xfrm>
          <a:prstGeom prst="roundRect">
            <a:avLst/>
          </a:prstGeom>
          <a:solidFill>
            <a:srgbClr val="37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58200" y="2331720"/>
            <a:ext cx="2743200" cy="502920"/>
          </a:xfrm>
          <a:prstGeom prst="roundRect">
            <a:avLst/>
          </a:prstGeom>
          <a:solidFill>
            <a:srgbClr val="41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589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5F7FA"/>
                </a:solidFill>
              </a:rPr>
              <a:t>CENTRAL DE SUPORTE</a:t>
            </a:r>
          </a:p>
          <a:p>
            <a:r>
              <a:rPr sz="3800" b="1">
                <a:solidFill>
                  <a:srgbClr val="3796FF"/>
                </a:solidFill>
              </a:rPr>
              <a:t>TÉCNICO REMOTO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AAB4C0"/>
                </a:solidFill>
              </a:rPr>
              <a:t>Projeto de solução para uma empresa com 30 colaboradores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1663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5F7FA"/>
                </a:solidFill>
              </a:rPr>
              <a:t>Empresa fictícia • Nexa Serviços Corporativos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C0"/>
                </a:solidFill>
              </a:rPr>
              <a:t>NEXA • Suporte Técnico Remoto   |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1. O cenário da empresa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4C0"/>
                </a:solidFill>
              </a:rPr>
              <a:t>Uma organização presencial/híbrida com suporte de TI remoto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169164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64008" cy="1691640"/>
          </a:xfrm>
          <a:prstGeom prst="rect">
            <a:avLst/>
          </a:prstGeom>
          <a:solidFill>
            <a:srgbClr val="37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⚖ Jurídico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75688"/>
            <a:ext cx="30632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6 colaboradores
Regime: Presencial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474720" cy="169164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64008" cy="1691640"/>
          </a:xfrm>
          <a:prstGeom prst="rect">
            <a:avLst/>
          </a:prstGeom>
          <a:solidFill>
            <a:srgbClr val="37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5819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▦ Contabilidade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075688"/>
            <a:ext cx="30632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8 colaboradores
Regime: Presencial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17320"/>
            <a:ext cx="3474720" cy="169164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417320"/>
            <a:ext cx="64008" cy="1691640"/>
          </a:xfrm>
          <a:prstGeom prst="rect">
            <a:avLst/>
          </a:prstGeom>
          <a:solidFill>
            <a:srgbClr val="37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5819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▣ Administração/Financeiro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075688"/>
            <a:ext cx="30632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5 colaboradores
Regime: Presencial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3474720" cy="169164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74720"/>
            <a:ext cx="64008" cy="1691640"/>
          </a:xfrm>
          <a:prstGeom prst="rect">
            <a:avLst/>
          </a:prstGeom>
          <a:solidFill>
            <a:srgbClr val="37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393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↔ Comercial/Atendimento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133087"/>
            <a:ext cx="30632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5 colaboradores
Regime: Híbrido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474720"/>
            <a:ext cx="3474720" cy="169164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3474720"/>
            <a:ext cx="64008" cy="1691640"/>
          </a:xfrm>
          <a:prstGeom prst="rect">
            <a:avLst/>
          </a:prstGeom>
          <a:solidFill>
            <a:srgbClr val="37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6393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▤ RH / DP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133087"/>
            <a:ext cx="30632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3 colaboradores
Regime: Presencial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474720"/>
            <a:ext cx="3474720" cy="169164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474720"/>
            <a:ext cx="64008" cy="1691640"/>
          </a:xfrm>
          <a:prstGeom prst="rect">
            <a:avLst/>
          </a:prstGeom>
          <a:solidFill>
            <a:srgbClr val="41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36393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⌁ TI / Suporte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133087"/>
            <a:ext cx="30632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3 colaboradores
Regime: REMOTO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C0"/>
                </a:solidFill>
              </a:rPr>
              <a:t>NEXA • Suporte Técnico Remoto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2. A diferenciação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4C0"/>
                </a:solidFill>
              </a:rPr>
              <a:t>A empresa não é remota: o atendimento de TI é.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66360" cy="35661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64008" cy="3566160"/>
          </a:xfrm>
          <a:prstGeom prst="rect">
            <a:avLst/>
          </a:prstGeom>
          <a:solidFill>
            <a:srgbClr val="37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1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OPERAÇÃO DA EMPRESA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67128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Jurídico, Contabilidade, Administração/Financeiro e RH trabalham predominantemente presencialmente. O Comercial pode operar em modelo híbrido.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166360" cy="35661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508760"/>
            <a:ext cx="64008" cy="3566160"/>
          </a:xfrm>
          <a:prstGeom prst="rect">
            <a:avLst/>
          </a:prstGeom>
          <a:solidFill>
            <a:srgbClr val="41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73351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OPERAÇÃO DO 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67128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Os 3 profissionais de TI podem trabalhar remotamente e prestar suporte aos usuários por meio de acesso remoto, monitoramento, chamados e VPN.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406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5F7FA"/>
                </a:solidFill>
              </a:rPr>
              <a:t>PRESENCIAL / HÍBRIDO  ← usuários e setores →  REMOTO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C0"/>
                </a:solidFill>
              </a:rPr>
              <a:t>NEXA • Suporte Técnico Remoto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3. Problema a ser resolvido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4C0"/>
                </a:solidFill>
              </a:rPr>
              <a:t>Como atender rapidamente 27 usuários sem depender da presença física do técnico?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6492240" cy="429768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508760"/>
            <a:ext cx="59893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• Deslocamento do técnico para problemas simples</a:t>
            </a:r>
          </a:p>
          <a:p>
            <a:pPr>
              <a:spcAft>
                <a:spcPts val="1000"/>
              </a:spcAft>
              <a:defRPr sz="1700">
                <a:solidFill>
                  <a:srgbClr val="AAB4C0"/>
                </a:solidFill>
              </a:defRPr>
            </a:pPr>
            <a:r>
              <a:t>• Falta de visibilidade sobre a saúde dos computadores</a:t>
            </a:r>
          </a:p>
          <a:p>
            <a:pPr>
              <a:spcAft>
                <a:spcPts val="1000"/>
              </a:spcAft>
              <a:defRPr sz="1700">
                <a:solidFill>
                  <a:srgbClr val="AAB4C0"/>
                </a:solidFill>
              </a:defRPr>
            </a:pPr>
            <a:r>
              <a:t>• Chamados sem histórico ou padronização</a:t>
            </a:r>
          </a:p>
          <a:p>
            <a:pPr>
              <a:spcAft>
                <a:spcPts val="1000"/>
              </a:spcAft>
              <a:defRPr sz="1700">
                <a:solidFill>
                  <a:srgbClr val="AAB4C0"/>
                </a:solidFill>
              </a:defRPr>
            </a:pPr>
            <a:r>
              <a:t>• Dificuldade para administrar equipamentos à distância</a:t>
            </a:r>
          </a:p>
          <a:p>
            <a:pPr>
              <a:spcAft>
                <a:spcPts val="1000"/>
              </a:spcAft>
              <a:defRPr sz="1700">
                <a:solidFill>
                  <a:srgbClr val="AAB4C0"/>
                </a:solidFill>
              </a:defRPr>
            </a:pPr>
            <a:r>
              <a:t>• Risco de acesso remoto sem controle e rastreabilidade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325880"/>
            <a:ext cx="3886200" cy="429768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325880"/>
            <a:ext cx="64008" cy="4297680"/>
          </a:xfrm>
          <a:prstGeom prst="rect">
            <a:avLst/>
          </a:prstGeom>
          <a:solidFill>
            <a:srgbClr val="37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490472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OBJETIVO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84248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Criar uma central de suporte remoto segura, monitorada e documentada, capaz de atender os setores da empresa com rapidez e controle.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C0"/>
                </a:solidFill>
              </a:rPr>
              <a:t>NEXA • Suporte Técnico Remoto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4. Arquitetura da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4C0"/>
                </a:solidFill>
              </a:rPr>
              <a:t>Ferramentas integradas em um único fluxo de suporte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868680"/>
            <a:ext cx="2377440" cy="960120"/>
          </a:xfrm>
          <a:prstGeom prst="roundRect">
            <a:avLst/>
          </a:prstGeom>
          <a:solidFill>
            <a:srgbClr val="141B24"/>
          </a:solidFill>
          <a:ln>
            <a:solidFill>
              <a:srgbClr val="37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978407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</a:rPr>
              <a:t>👨‍💻</a:t>
            </a:r>
          </a:p>
          <a:p>
            <a:pPr algn="ctr"/>
            <a:r>
              <a:rPr sz="900">
                <a:solidFill>
                  <a:srgbClr val="AAB4C0"/>
                </a:solidFill>
              </a:rPr>
              <a:t>TI REMOTO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828800"/>
            <a:ext cx="2377440" cy="960120"/>
          </a:xfrm>
          <a:prstGeom prst="roundRect">
            <a:avLst/>
          </a:prstGeom>
          <a:solidFill>
            <a:srgbClr val="141B24"/>
          </a:solidFill>
          <a:ln>
            <a:solidFill>
              <a:srgbClr val="37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0" y="1938528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</a:rPr>
              <a:t>VPN</a:t>
            </a:r>
          </a:p>
          <a:p>
            <a:pPr algn="ctr"/>
            <a:r>
              <a:rPr sz="900">
                <a:solidFill>
                  <a:srgbClr val="AAB4C0"/>
                </a:solidFill>
              </a:rPr>
              <a:t>WireGuard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54680"/>
            <a:ext cx="2377440" cy="960120"/>
          </a:xfrm>
          <a:prstGeom prst="roundRect">
            <a:avLst/>
          </a:prstGeom>
          <a:solidFill>
            <a:srgbClr val="141B24"/>
          </a:solidFill>
          <a:ln>
            <a:solidFill>
              <a:srgbClr val="F5A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64408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</a:rPr>
              <a:t>GLPI</a:t>
            </a:r>
          </a:p>
          <a:p>
            <a:pPr algn="ctr"/>
            <a:r>
              <a:rPr sz="900">
                <a:solidFill>
                  <a:srgbClr val="AAB4C0"/>
                </a:solidFill>
              </a:rPr>
              <a:t>Chamados + Inventário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3154680"/>
            <a:ext cx="2377440" cy="960120"/>
          </a:xfrm>
          <a:prstGeom prst="roundRect">
            <a:avLst/>
          </a:prstGeom>
          <a:solidFill>
            <a:srgbClr val="141B24"/>
          </a:solidFill>
          <a:ln>
            <a:solidFill>
              <a:srgbClr val="41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3264408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</a:rPr>
              <a:t>ZABBIX</a:t>
            </a:r>
          </a:p>
          <a:p>
            <a:pPr algn="ctr"/>
            <a:r>
              <a:rPr sz="900">
                <a:solidFill>
                  <a:srgbClr val="AAB4C0"/>
                </a:solidFill>
              </a:rPr>
              <a:t>Monitoramento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154680"/>
            <a:ext cx="2377440" cy="960120"/>
          </a:xfrm>
          <a:prstGeom prst="roundRect">
            <a:avLst/>
          </a:prstGeom>
          <a:solidFill>
            <a:srgbClr val="141B24"/>
          </a:solidFill>
          <a:ln>
            <a:solidFill>
              <a:srgbClr val="37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3264408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</a:rPr>
              <a:t>RUSTDESK</a:t>
            </a:r>
          </a:p>
          <a:p>
            <a:pPr algn="ctr"/>
            <a:r>
              <a:rPr sz="900">
                <a:solidFill>
                  <a:srgbClr val="AAB4C0"/>
                </a:solidFill>
              </a:rPr>
              <a:t>Acesso remoto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3154680"/>
            <a:ext cx="2377440" cy="960120"/>
          </a:xfrm>
          <a:prstGeom prst="roundRect">
            <a:avLst/>
          </a:prstGeom>
          <a:solidFill>
            <a:srgbClr val="141B24"/>
          </a:solidFill>
          <a:ln>
            <a:solidFill>
              <a:srgbClr val="37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19" y="3264408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</a:rPr>
              <a:t>INTUNE</a:t>
            </a:r>
          </a:p>
          <a:p>
            <a:pPr algn="ctr"/>
            <a:r>
              <a:rPr sz="900">
                <a:solidFill>
                  <a:srgbClr val="AAB4C0"/>
                </a:solidFill>
              </a:rPr>
              <a:t>Gerenciamento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4983480"/>
            <a:ext cx="2377440" cy="960120"/>
          </a:xfrm>
          <a:prstGeom prst="roundRect">
            <a:avLst/>
          </a:prstGeom>
          <a:solidFill>
            <a:srgbClr val="141B24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5093208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</a:rPr>
              <a:t>27 USUÁRIOS</a:t>
            </a:r>
          </a:p>
          <a:p>
            <a:pPr algn="ctr"/>
            <a:r>
              <a:rPr sz="900">
                <a:solidFill>
                  <a:srgbClr val="AAB4C0"/>
                </a:solidFill>
              </a:rPr>
              <a:t>Setores da empresa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75120" y="1828800"/>
            <a:ext cx="0" cy="0"/>
          </a:xfrm>
          <a:prstGeom prst="line">
            <a:avLst/>
          </a:prstGeom>
          <a:ln w="19050">
            <a:solidFill>
              <a:srgbClr val="AAB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103120" y="2788920"/>
            <a:ext cx="4572000" cy="365760"/>
          </a:xfrm>
          <a:prstGeom prst="line">
            <a:avLst/>
          </a:prstGeom>
          <a:ln w="19050">
            <a:solidFill>
              <a:srgbClr val="AAB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074920" y="2788920"/>
            <a:ext cx="1600200" cy="365760"/>
          </a:xfrm>
          <a:prstGeom prst="line">
            <a:avLst/>
          </a:prstGeom>
          <a:ln w="19050">
            <a:solidFill>
              <a:srgbClr val="AAB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675120" y="2788920"/>
            <a:ext cx="1371600" cy="365760"/>
          </a:xfrm>
          <a:prstGeom prst="line">
            <a:avLst/>
          </a:prstGeom>
          <a:ln w="19050">
            <a:solidFill>
              <a:srgbClr val="AAB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75120" y="2788920"/>
            <a:ext cx="4069080" cy="365760"/>
          </a:xfrm>
          <a:prstGeom prst="line">
            <a:avLst/>
          </a:prstGeom>
          <a:ln w="19050">
            <a:solidFill>
              <a:srgbClr val="AAB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103120" y="4114800"/>
            <a:ext cx="4572000" cy="868680"/>
          </a:xfrm>
          <a:prstGeom prst="line">
            <a:avLst/>
          </a:prstGeom>
          <a:ln w="19050">
            <a:solidFill>
              <a:srgbClr val="AAB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74920" y="4114800"/>
            <a:ext cx="1600200" cy="868680"/>
          </a:xfrm>
          <a:prstGeom prst="line">
            <a:avLst/>
          </a:prstGeom>
          <a:ln w="19050">
            <a:solidFill>
              <a:srgbClr val="AAB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675120" y="4114800"/>
            <a:ext cx="1371600" cy="868680"/>
          </a:xfrm>
          <a:prstGeom prst="line">
            <a:avLst/>
          </a:prstGeom>
          <a:ln w="19050">
            <a:solidFill>
              <a:srgbClr val="AAB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675120" y="4114800"/>
            <a:ext cx="4069080" cy="868680"/>
          </a:xfrm>
          <a:prstGeom prst="line">
            <a:avLst/>
          </a:prstGeom>
          <a:ln w="19050">
            <a:solidFill>
              <a:srgbClr val="AAB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C0"/>
                </a:solidFill>
              </a:rPr>
              <a:t>NEXA • Suporte Técnico Remoto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5. Ferramentas da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4C0"/>
                </a:solidFill>
              </a:rPr>
              <a:t>Cada ferramenta resolve uma parte do processo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166360" cy="12801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1280160"/>
          </a:xfrm>
          <a:prstGeom prst="rect">
            <a:avLst/>
          </a:prstGeom>
          <a:solidFill>
            <a:srgbClr val="F5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GLPI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475488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Centraliza chamados, inventário e histórico.
ORGANIZAR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2801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64008" cy="1280160"/>
          </a:xfrm>
          <a:prstGeom prst="rect">
            <a:avLst/>
          </a:prstGeom>
          <a:solidFill>
            <a:srgbClr val="37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9047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RustDesk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84248"/>
            <a:ext cx="475488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Acesso remoto aos computadores com autorização.
ATENDER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98648"/>
            <a:ext cx="5166360" cy="12801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898648"/>
            <a:ext cx="64008" cy="1280160"/>
          </a:xfrm>
          <a:prstGeom prst="rect">
            <a:avLst/>
          </a:prstGeom>
          <a:solidFill>
            <a:srgbClr val="41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Zabbix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57015"/>
            <a:ext cx="475488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Monitora disponibilidade, desempenho e alertas.
PREVENIR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898648"/>
            <a:ext cx="5166360" cy="12801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898648"/>
            <a:ext cx="64008" cy="1280160"/>
          </a:xfrm>
          <a:prstGeom prst="rect">
            <a:avLst/>
          </a:prstGeom>
          <a:solidFill>
            <a:srgbClr val="37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06324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WireGuard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57015"/>
            <a:ext cx="475488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Cria canal VPN seguro para administração remota.
PROTEGER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471416"/>
            <a:ext cx="5166360" cy="12801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471416"/>
            <a:ext cx="64008" cy="1280160"/>
          </a:xfrm>
          <a:prstGeom prst="rect">
            <a:avLst/>
          </a:prstGeom>
          <a:solidFill>
            <a:srgbClr val="37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36007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Microsoft Intune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29783"/>
            <a:ext cx="475488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Gerencia dispositivos Windows, políticas e aplicativos.
PADRONIZAR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471416"/>
            <a:ext cx="5166360" cy="12801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4471416"/>
            <a:ext cx="64008" cy="1280160"/>
          </a:xfrm>
          <a:prstGeom prst="rect">
            <a:avLst/>
          </a:prstGeom>
          <a:solidFill>
            <a:srgbClr val="F5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636007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NAS + Nuvem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129783"/>
            <a:ext cx="475488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Protege dados por meio de cópias de segurança.
RECUPERAR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C0"/>
                </a:solidFill>
              </a:rPr>
              <a:t>NEXA • Suporte Técnico Remoto   |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6. Fluxo de atendimento remoto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4C0"/>
                </a:solidFill>
              </a:rPr>
              <a:t>Do chamado à validação, sem perder o histórico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520440" cy="17373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64008" cy="1737360"/>
          </a:xfrm>
          <a:prstGeom prst="rect">
            <a:avLst/>
          </a:prstGeom>
          <a:solidFill>
            <a:srgbClr val="F5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819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01  CHAMADO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75688"/>
            <a:ext cx="31089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Usuário registra o problema no GLPI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520440" cy="17373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64008" cy="1737360"/>
          </a:xfrm>
          <a:prstGeom prst="rect">
            <a:avLst/>
          </a:prstGeom>
          <a:solidFill>
            <a:srgbClr val="37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819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02  TRIAGEM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75688"/>
            <a:ext cx="31089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TI analisa o chamado e a prioridade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520440" cy="17373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417320"/>
            <a:ext cx="64008" cy="1737360"/>
          </a:xfrm>
          <a:prstGeom prst="rect">
            <a:avLst/>
          </a:prstGeom>
          <a:solidFill>
            <a:srgbClr val="41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5819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03  MONITORAMENTO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075688"/>
            <a:ext cx="31089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Zabbix fornece evidências do ambiente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3520440" cy="17373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566160"/>
            <a:ext cx="64008" cy="1737360"/>
          </a:xfrm>
          <a:prstGeom prst="rect">
            <a:avLst/>
          </a:prstGeom>
          <a:solidFill>
            <a:srgbClr val="37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3075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04  ACESSO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24528"/>
            <a:ext cx="31089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RustDesk é usado com autorização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566160"/>
            <a:ext cx="3520440" cy="17373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3566160"/>
            <a:ext cx="64008" cy="1737360"/>
          </a:xfrm>
          <a:prstGeom prst="rect">
            <a:avLst/>
          </a:prstGeom>
          <a:solidFill>
            <a:srgbClr val="37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73075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05  SOLUÇÃO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224528"/>
            <a:ext cx="31089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Técnico corrige e testa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566160"/>
            <a:ext cx="3520440" cy="17373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3566160"/>
            <a:ext cx="64008" cy="1737360"/>
          </a:xfrm>
          <a:prstGeom prst="rect">
            <a:avLst/>
          </a:prstGeom>
          <a:solidFill>
            <a:srgbClr val="F5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373075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06  REGISTRO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224528"/>
            <a:ext cx="31089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GLPI recebe diagnóstico e resultado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C0"/>
                </a:solidFill>
              </a:rPr>
              <a:t>NEXA • Suporte Técnico Remoto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7. Segurança do acesso remoto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4C0"/>
                </a:solidFill>
              </a:rPr>
              <a:t>O técnico remoto precisa de acesso controlado, não de acesso irrestrito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577840" cy="44805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508760"/>
            <a:ext cx="5074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• VPN para acesso administrativo</a:t>
            </a:r>
          </a:p>
          <a:p>
            <a:pPr>
              <a:spcAft>
                <a:spcPts val="1000"/>
              </a:spcAft>
              <a:defRPr sz="1600">
                <a:solidFill>
                  <a:srgbClr val="AAB4C0"/>
                </a:solidFill>
              </a:defRPr>
            </a:pPr>
            <a:r>
              <a:t>• MFA para autenticação</a:t>
            </a:r>
          </a:p>
          <a:p>
            <a:pPr>
              <a:spcAft>
                <a:spcPts val="1000"/>
              </a:spcAft>
              <a:defRPr sz="1600">
                <a:solidFill>
                  <a:srgbClr val="AAB4C0"/>
                </a:solidFill>
              </a:defRPr>
            </a:pPr>
            <a:r>
              <a:t>• Princípio do menor privilégio</a:t>
            </a:r>
          </a:p>
          <a:p>
            <a:pPr>
              <a:spcAft>
                <a:spcPts val="1000"/>
              </a:spcAft>
              <a:defRPr sz="1600">
                <a:solidFill>
                  <a:srgbClr val="AAB4C0"/>
                </a:solidFill>
              </a:defRPr>
            </a:pPr>
            <a:r>
              <a:t>• Autorização do usuário para sessão remota</a:t>
            </a:r>
          </a:p>
          <a:p>
            <a:pPr>
              <a:spcAft>
                <a:spcPts val="1000"/>
              </a:spcAft>
              <a:defRPr sz="1600">
                <a:solidFill>
                  <a:srgbClr val="AAB4C0"/>
                </a:solidFill>
              </a:defRPr>
            </a:pPr>
            <a:r>
              <a:t>• Registro e rastreabilidade dos acessos</a:t>
            </a:r>
          </a:p>
          <a:p>
            <a:pPr>
              <a:spcAft>
                <a:spcPts val="1000"/>
              </a:spcAft>
              <a:defRPr sz="1600">
                <a:solidFill>
                  <a:srgbClr val="AAB4C0"/>
                </a:solidFill>
              </a:defRPr>
            </a:pPr>
            <a:r>
              <a:t>• Firewall e regras de acesso</a:t>
            </a:r>
          </a:p>
          <a:p>
            <a:pPr>
              <a:spcAft>
                <a:spcPts val="1000"/>
              </a:spcAft>
              <a:defRPr sz="1600">
                <a:solidFill>
                  <a:srgbClr val="AAB4C0"/>
                </a:solidFill>
              </a:defRPr>
            </a:pPr>
            <a:r>
              <a:t>• Backup para recuperação de dados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325880"/>
            <a:ext cx="4754880" cy="44805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29400" y="1325880"/>
            <a:ext cx="64008" cy="4480560"/>
          </a:xfrm>
          <a:prstGeom prst="rect">
            <a:avLst/>
          </a:prstGeom>
          <a:solidFill>
            <a:srgbClr val="41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490472"/>
            <a:ext cx="4343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REGRA DE OURO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984248"/>
            <a:ext cx="4343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Acesso remoto ≠ acesso livre.
Cada acesso deve ter finalidade, autorização, controle e possibilidade de auditoria.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C0"/>
                </a:solidFill>
              </a:rPr>
              <a:t>NEXA • Suporte Técnico Remoto   |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8. Exemplo prático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4C0"/>
                </a:solidFill>
              </a:rPr>
              <a:t>Atendimento de um problema de lentidão no setor de Contabilidade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325880"/>
            <a:ext cx="502920" cy="502920"/>
          </a:xfrm>
          <a:prstGeom prst="ellipse">
            <a:avLst/>
          </a:prstGeom>
          <a:solidFill>
            <a:srgbClr val="37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1307592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08:42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30759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B4C0"/>
                </a:solidFill>
              </a:rPr>
              <a:t>Usuário abre chamado no GLPI.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37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2039112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08:44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03911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B4C0"/>
                </a:solidFill>
              </a:rPr>
              <a:t>Técnico verifica o computador no Zabbix.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788920"/>
            <a:ext cx="502920" cy="502920"/>
          </a:xfrm>
          <a:prstGeom prst="ellipse">
            <a:avLst/>
          </a:prstGeom>
          <a:solidFill>
            <a:srgbClr val="37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2770632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08:46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77063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B4C0"/>
                </a:solidFill>
              </a:rPr>
              <a:t>Usuário autoriza a sessão RustDesk.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520440"/>
            <a:ext cx="502920" cy="502920"/>
          </a:xfrm>
          <a:prstGeom prst="ellipse">
            <a:avLst/>
          </a:prstGeom>
          <a:solidFill>
            <a:srgbClr val="37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3502152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08:47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50215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B4C0"/>
                </a:solidFill>
              </a:rPr>
              <a:t>Técnico realiza diagnóstico remoto.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rgbClr val="37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4233672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08:53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23367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B4C0"/>
                </a:solidFill>
              </a:rPr>
              <a:t>Problema é corrigido e testado.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983480"/>
            <a:ext cx="502920" cy="502920"/>
          </a:xfrm>
          <a:prstGeom prst="ellipse">
            <a:avLst/>
          </a:prstGeom>
          <a:solidFill>
            <a:srgbClr val="37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4965192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08:56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965192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B4C0"/>
                </a:solidFill>
              </a:rPr>
              <a:t>Solução e evidências são registradas no GLPI.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C0"/>
                </a:solidFill>
              </a:rPr>
              <a:t>NEXA • Suporte Técnico Remoto   |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9. Resultado esperado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4C0"/>
                </a:solidFill>
              </a:rPr>
              <a:t>Uma operação de TI mais rápida, controlada e baseada em evidências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520440" cy="17373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64008" cy="1737360"/>
          </a:xfrm>
          <a:prstGeom prst="rect">
            <a:avLst/>
          </a:prstGeom>
          <a:solidFill>
            <a:srgbClr val="37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819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⚡  Agilidade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31089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Menos deslocamentos e menor tempo de atendimento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520440" cy="17373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64008" cy="1737360"/>
          </a:xfrm>
          <a:prstGeom prst="rect">
            <a:avLst/>
          </a:prstGeom>
          <a:solidFill>
            <a:srgbClr val="41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5819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👁  Visibilidade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075688"/>
            <a:ext cx="31089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Monitoramento contínuo dos equipamentos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520440" cy="17373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417320"/>
            <a:ext cx="64008" cy="1737360"/>
          </a:xfrm>
          <a:prstGeom prst="rect">
            <a:avLst/>
          </a:prstGeom>
          <a:solidFill>
            <a:srgbClr val="37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5819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🔐  Segurança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075688"/>
            <a:ext cx="31089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VPN, MFA, permissões e rastreabilidade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474720"/>
            <a:ext cx="3520440" cy="17373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474720"/>
            <a:ext cx="64008" cy="1737360"/>
          </a:xfrm>
          <a:prstGeom prst="rect">
            <a:avLst/>
          </a:prstGeom>
          <a:solidFill>
            <a:srgbClr val="F5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393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🗂  Organização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33087"/>
            <a:ext cx="31089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Chamados, inventário e histórico centralizados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474720"/>
            <a:ext cx="3520440" cy="17373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3474720"/>
            <a:ext cx="64008" cy="1737360"/>
          </a:xfrm>
          <a:prstGeom prst="rect">
            <a:avLst/>
          </a:prstGeom>
          <a:solidFill>
            <a:srgbClr val="37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6393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📈  Escalabilidade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133087"/>
            <a:ext cx="31089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Processos preparados para crescimento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474720"/>
            <a:ext cx="3520440" cy="17373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3474720"/>
            <a:ext cx="64008" cy="1737360"/>
          </a:xfrm>
          <a:prstGeom prst="rect">
            <a:avLst/>
          </a:prstGeom>
          <a:solidFill>
            <a:srgbClr val="41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36393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💾  Continuidade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133087"/>
            <a:ext cx="31089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Backup e possibilidade de recuperação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C0"/>
                </a:solidFill>
              </a:rPr>
              <a:t>NEXA • Suporte Técnico Remoto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10. Solução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AB4C0"/>
                </a:solidFill>
              </a:rPr>
              <a:t>Central de suporte remoto para os setores da Nexa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2148840"/>
            <a:ext cx="3063240" cy="132588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2148840"/>
            <a:ext cx="64008" cy="1325880"/>
          </a:xfrm>
          <a:prstGeom prst="rect">
            <a:avLst/>
          </a:prstGeom>
          <a:solidFill>
            <a:srgbClr val="41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00600" y="2313432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TI REMOTO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2807208"/>
            <a:ext cx="26517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3 técnicos
VPN + MFA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2834640" cy="10515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64008" cy="1051560"/>
          </a:xfrm>
          <a:prstGeom prst="rect">
            <a:avLst/>
          </a:prstGeom>
          <a:solidFill>
            <a:srgbClr val="37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99032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Jurídico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92808"/>
            <a:ext cx="24231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Usuários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160520"/>
            <a:ext cx="2834640" cy="10515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4160520"/>
            <a:ext cx="64008" cy="1051560"/>
          </a:xfrm>
          <a:prstGeom prst="rect">
            <a:avLst/>
          </a:prstGeom>
          <a:solidFill>
            <a:srgbClr val="F5A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25112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Contabilidade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18888"/>
            <a:ext cx="24231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Usuários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234440"/>
            <a:ext cx="2834640" cy="10515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234440"/>
            <a:ext cx="64008" cy="1051560"/>
          </a:xfrm>
          <a:prstGeom prst="rect">
            <a:avLst/>
          </a:prstGeom>
          <a:solidFill>
            <a:srgbClr val="37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1399032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Administração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1892808"/>
            <a:ext cx="24231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Usuários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4160520"/>
            <a:ext cx="2834640" cy="10515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4160520"/>
            <a:ext cx="64008" cy="1051560"/>
          </a:xfrm>
          <a:prstGeom prst="rect">
            <a:avLst/>
          </a:prstGeom>
          <a:solidFill>
            <a:srgbClr val="41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4325112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RH / DP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818888"/>
            <a:ext cx="24231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Usuários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4709160"/>
            <a:ext cx="2834640" cy="1051560"/>
          </a:xfrm>
          <a:prstGeom prst="roundRect">
            <a:avLst/>
          </a:prstGeom>
          <a:solidFill>
            <a:srgbClr val="141B24"/>
          </a:solidFill>
          <a:ln>
            <a:solidFill>
              <a:srgbClr val="26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26280" y="4709160"/>
            <a:ext cx="64008" cy="1051560"/>
          </a:xfrm>
          <a:prstGeom prst="rect">
            <a:avLst/>
          </a:prstGeom>
          <a:solidFill>
            <a:srgbClr val="37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4873752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5F7FA"/>
                </a:solidFill>
              </a:rPr>
              <a:t>Comercial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5367528"/>
            <a:ext cx="24231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B4C0"/>
                </a:solidFill>
              </a:rPr>
              <a:t>Usuários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806440"/>
            <a:ext cx="1965960" cy="457200"/>
          </a:xfrm>
          <a:prstGeom prst="roundRect">
            <a:avLst/>
          </a:prstGeom>
          <a:solidFill>
            <a:srgbClr val="141B24"/>
          </a:solidFill>
          <a:ln>
            <a:solidFill>
              <a:srgbClr val="F5A5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879592"/>
            <a:ext cx="18745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</a:rPr>
              <a:t>GLPI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53512" y="5806440"/>
            <a:ext cx="1965960" cy="457200"/>
          </a:xfrm>
          <a:prstGeom prst="roundRect">
            <a:avLst/>
          </a:prstGeom>
          <a:solidFill>
            <a:srgbClr val="141B24"/>
          </a:solidFill>
          <a:ln>
            <a:solidFill>
              <a:srgbClr val="41C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9232" y="5879592"/>
            <a:ext cx="18745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</a:rPr>
              <a:t>ZABBIX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21224" y="5806440"/>
            <a:ext cx="1965960" cy="457200"/>
          </a:xfrm>
          <a:prstGeom prst="roundRect">
            <a:avLst/>
          </a:prstGeom>
          <a:solidFill>
            <a:srgbClr val="141B24"/>
          </a:solidFill>
          <a:ln>
            <a:solidFill>
              <a:srgbClr val="37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66944" y="5879592"/>
            <a:ext cx="18745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</a:rPr>
              <a:t>RUSTDESK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88936" y="5806440"/>
            <a:ext cx="1965960" cy="457200"/>
          </a:xfrm>
          <a:prstGeom prst="roundRect">
            <a:avLst/>
          </a:prstGeom>
          <a:solidFill>
            <a:srgbClr val="141B24"/>
          </a:solidFill>
          <a:ln>
            <a:solidFill>
              <a:srgbClr val="37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34656" y="5879592"/>
            <a:ext cx="18745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</a:rPr>
              <a:t>WIREGUARD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56648" y="5806440"/>
            <a:ext cx="1965960" cy="457200"/>
          </a:xfrm>
          <a:prstGeom prst="roundRect">
            <a:avLst/>
          </a:prstGeom>
          <a:solidFill>
            <a:srgbClr val="141B24"/>
          </a:solidFill>
          <a:ln>
            <a:solidFill>
              <a:srgbClr val="37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02368" y="5879592"/>
            <a:ext cx="18745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</a:rPr>
              <a:t>INTUNE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C0"/>
                </a:solidFill>
              </a:rPr>
              <a:t>NEXA • Suporte Técnico Remoto   |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430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3796FF"/>
                </a:solidFill>
              </a:rP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423160"/>
            <a:ext cx="96012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F5F7FA"/>
                </a:solidFill>
              </a:rPr>
              <a:t>A empresa continua presencial/híbrida.
</a:t>
            </a:r>
            <a:r>
              <a:rPr sz="2300">
                <a:solidFill>
                  <a:srgbClr val="AAB4C0"/>
                </a:solidFill>
              </a:rPr>
              <a:t>O suporte de TI passa a ser remoto, centralizado, seguro e monitorado.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892040"/>
            <a:ext cx="9052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41C882"/>
                </a:solidFill>
              </a:rPr>
              <a:t>ENTENDER → INVESTIGAR → TESTAR → SOLUCIONAR → VALIDAR → DOCUMENTAR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AAB4C0"/>
                </a:solidFill>
              </a:rPr>
              <a:t>NEXA • Suporte Técnico Remoto   |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